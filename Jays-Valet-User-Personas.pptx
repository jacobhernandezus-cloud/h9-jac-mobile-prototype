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463040"/>
            <a:ext cx="5943600" cy="5943600"/>
          </a:xfrm>
          <a:prstGeom prst="ellipse">
            <a:avLst/>
          </a:prstGeom>
          <a:solidFill>
            <a:srgbClr val="26384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22000"/>
          </a:blip>
          <a:stretch>
            <a:fillRect/>
          </a:stretch>
        </p:blipFill>
        <p:spPr>
          <a:xfrm>
            <a:off x="9646920" y="1051560"/>
            <a:ext cx="1828800" cy="1828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1234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5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JAY'S AIR CENTER · KSNA · VALET APP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49808" y="169164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8F6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Personas</a:t>
            </a:r>
            <a:endParaRPr lang="en-US" sz="6400" dirty="0"/>
          </a:p>
        </p:txBody>
      </p:sp>
      <p:sp>
        <p:nvSpPr>
          <p:cNvPr id="6" name="Text 3"/>
          <p:cNvSpPr/>
          <p:nvPr/>
        </p:nvSpPr>
        <p:spPr>
          <a:xfrm>
            <a:off x="822960" y="32461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B9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uses Jay's Valet, what they struggle with today, and the features each persona relies on — or still needs.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822960" y="4800600"/>
            <a:ext cx="2066544" cy="457200"/>
          </a:xfrm>
          <a:prstGeom prst="roundRect">
            <a:avLst>
              <a:gd name="adj" fmla="val 50000"/>
            </a:avLst>
          </a:prstGeom>
          <a:solidFill>
            <a:srgbClr val="26384C"/>
          </a:solidFill>
          <a:ln w="9525">
            <a:solidFill>
              <a:srgbClr val="C9A55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4800600"/>
            <a:ext cx="20665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D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· FBO Operator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118104" y="4800600"/>
            <a:ext cx="2823667" cy="457200"/>
          </a:xfrm>
          <a:prstGeom prst="roundRect">
            <a:avLst>
              <a:gd name="adj" fmla="val 50000"/>
            </a:avLst>
          </a:prstGeom>
          <a:solidFill>
            <a:srgbClr val="26384C"/>
          </a:solidFill>
          <a:ln w="9525">
            <a:solidFill>
              <a:srgbClr val="C9A55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118104" y="4800600"/>
            <a:ext cx="282366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D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TECHNICIAN · Ground Crew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0371" y="4800600"/>
            <a:ext cx="2318918" cy="457200"/>
          </a:xfrm>
          <a:prstGeom prst="roundRect">
            <a:avLst>
              <a:gd name="adj" fmla="val 50000"/>
            </a:avLst>
          </a:prstGeom>
          <a:solidFill>
            <a:srgbClr val="26384C"/>
          </a:solidFill>
          <a:ln w="9525">
            <a:solidFill>
              <a:srgbClr val="C9A55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70371" y="4800600"/>
            <a:ext cx="23189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8D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· Aircraft Owner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22960" y="6172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Concept &amp; clickable prototype  ·  v1  ·  2026-06-01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B2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users, one request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58368" y="120700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Jay's Valet digitizes the phone call an owner makes to the line crew — and gives the FBO a record of every move.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965960"/>
            <a:ext cx="3520440" cy="82296"/>
          </a:xfrm>
          <a:prstGeom prst="rect">
            <a:avLst/>
          </a:prstGeom>
          <a:solidFill>
            <a:srgbClr val="C9A55B"/>
          </a:solidFill>
          <a:ln/>
        </p:spPr>
      </p:sp>
      <p:sp>
        <p:nvSpPr>
          <p:cNvPr id="6" name="Shape 4"/>
          <p:cNvSpPr/>
          <p:nvPr/>
        </p:nvSpPr>
        <p:spPr>
          <a:xfrm>
            <a:off x="960120" y="2313432"/>
            <a:ext cx="777240" cy="777240"/>
          </a:xfrm>
          <a:prstGeom prst="ellipse">
            <a:avLst/>
          </a:prstGeom>
          <a:solidFill>
            <a:srgbClr val="1B283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496312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20240" y="2350008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Owner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920240" y="277063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C7C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FBO Operator · Jay's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960120" y="3337560"/>
            <a:ext cx="2880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3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FBO. Wants oversight of every request, crew load, and the fuel &amp; service revenue behind it.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489704" y="1965960"/>
            <a:ext cx="352044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489704" y="1965960"/>
            <a:ext cx="3520440" cy="82296"/>
          </a:xfrm>
          <a:prstGeom prst="rect">
            <a:avLst/>
          </a:prstGeom>
          <a:solidFill>
            <a:srgbClr val="C9A55B"/>
          </a:solidFill>
          <a:ln/>
        </p:spPr>
      </p:sp>
      <p:sp>
        <p:nvSpPr>
          <p:cNvPr id="13" name="Shape 10"/>
          <p:cNvSpPr/>
          <p:nvPr/>
        </p:nvSpPr>
        <p:spPr>
          <a:xfrm>
            <a:off x="4809744" y="2313432"/>
            <a:ext cx="777240" cy="777240"/>
          </a:xfrm>
          <a:prstGeom prst="ellipse">
            <a:avLst/>
          </a:prstGeom>
          <a:solidFill>
            <a:srgbClr val="1B2838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2624" y="2496312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769864" y="2350008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Line Technician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5769864" y="277063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C7C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Ground Crew · Marcus R.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809744" y="3337560"/>
            <a:ext cx="2880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3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Tows, fuels and stages the aircraft. Delivers the “staged &amp; ready” promise from a phone at the line shack.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8339328" y="1965960"/>
            <a:ext cx="352044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339328" y="1965960"/>
            <a:ext cx="3520440" cy="82296"/>
          </a:xfrm>
          <a:prstGeom prst="rect">
            <a:avLst/>
          </a:prstGeom>
          <a:solidFill>
            <a:srgbClr val="C9A55B"/>
          </a:solidFill>
          <a:ln/>
        </p:spPr>
      </p:sp>
      <p:sp>
        <p:nvSpPr>
          <p:cNvPr id="20" name="Shape 16"/>
          <p:cNvSpPr/>
          <p:nvPr/>
        </p:nvSpPr>
        <p:spPr>
          <a:xfrm>
            <a:off x="8659368" y="2313432"/>
            <a:ext cx="777240" cy="777240"/>
          </a:xfrm>
          <a:prstGeom prst="ellipse">
            <a:avLst/>
          </a:prstGeom>
          <a:solidFill>
            <a:srgbClr val="1B2838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2248" y="2496312"/>
            <a:ext cx="411480" cy="4114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9619488" y="2350008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Tenant</a:t>
            </a:r>
            <a:endParaRPr lang="en-US" sz="2000" dirty="0"/>
          </a:p>
        </p:txBody>
      </p:sp>
      <p:sp>
        <p:nvSpPr>
          <p:cNvPr id="23" name="Text 18"/>
          <p:cNvSpPr/>
          <p:nvPr/>
        </p:nvSpPr>
        <p:spPr>
          <a:xfrm>
            <a:off x="9619488" y="277063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C7C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Based Owner · George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8659368" y="3337560"/>
            <a:ext cx="2880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33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Hangars at Jay's and flies often. Summons the plane, tracks status, and leaves ready — the primary app user.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640080" y="4892040"/>
            <a:ext cx="10908792" cy="137160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26" name="Text 21"/>
          <p:cNvSpPr/>
          <p:nvPr/>
        </p:nvSpPr>
        <p:spPr>
          <a:xfrm>
            <a:off x="914400" y="50566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5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CORE FLOW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914400" y="545896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5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TENANT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914400" y="569671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B9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Taps “Stage aircraft” — fuel &amp; services in one request</a:t>
            </a:r>
            <a:endParaRPr lang="en-US" sz="1150" dirty="0"/>
          </a:p>
        </p:txBody>
      </p:sp>
      <p:sp>
        <p:nvSpPr>
          <p:cNvPr id="29" name="Text 24"/>
          <p:cNvSpPr/>
          <p:nvPr/>
        </p:nvSpPr>
        <p:spPr>
          <a:xfrm>
            <a:off x="3364992" y="5458968"/>
            <a:ext cx="201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9A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30" name="Text 25"/>
          <p:cNvSpPr/>
          <p:nvPr/>
        </p:nvSpPr>
        <p:spPr>
          <a:xfrm>
            <a:off x="3547872" y="545896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5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 TECH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3547872" y="569671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B9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Accepts, tows, fuels, stages on the ramp</a:t>
            </a:r>
            <a:endParaRPr lang="en-US" sz="1150" dirty="0"/>
          </a:p>
        </p:txBody>
      </p:sp>
      <p:sp>
        <p:nvSpPr>
          <p:cNvPr id="32" name="Text 27"/>
          <p:cNvSpPr/>
          <p:nvPr/>
        </p:nvSpPr>
        <p:spPr>
          <a:xfrm>
            <a:off x="5998464" y="5458968"/>
            <a:ext cx="201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9A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33" name="Text 28"/>
          <p:cNvSpPr/>
          <p:nvPr/>
        </p:nvSpPr>
        <p:spPr>
          <a:xfrm>
            <a:off x="6181344" y="545896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5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TENANT</a:t>
            </a:r>
            <a:endParaRPr lang="en-US" sz="1100" dirty="0"/>
          </a:p>
        </p:txBody>
      </p:sp>
      <p:sp>
        <p:nvSpPr>
          <p:cNvPr id="34" name="Text 29"/>
          <p:cNvSpPr/>
          <p:nvPr/>
        </p:nvSpPr>
        <p:spPr>
          <a:xfrm>
            <a:off x="6181344" y="569671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B9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 “✈ Staged &amp; ready” push with ramp spot</a:t>
            </a:r>
            <a:endParaRPr lang="en-US" sz="1150" dirty="0"/>
          </a:p>
        </p:txBody>
      </p:sp>
      <p:sp>
        <p:nvSpPr>
          <p:cNvPr id="35" name="Text 30"/>
          <p:cNvSpPr/>
          <p:nvPr/>
        </p:nvSpPr>
        <p:spPr>
          <a:xfrm>
            <a:off x="8631936" y="5458968"/>
            <a:ext cx="201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9A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36" name="Text 31"/>
          <p:cNvSpPr/>
          <p:nvPr/>
        </p:nvSpPr>
        <p:spPr>
          <a:xfrm>
            <a:off x="8814816" y="545896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5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OWNER</a:t>
            </a:r>
            <a:endParaRPr lang="en-US" sz="1100" dirty="0"/>
          </a:p>
        </p:txBody>
      </p:sp>
      <p:sp>
        <p:nvSpPr>
          <p:cNvPr id="37" name="Text 32"/>
          <p:cNvSpPr/>
          <p:nvPr/>
        </p:nvSpPr>
        <p:spPr>
          <a:xfrm>
            <a:off x="8814816" y="569671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B9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the whole queue logged &amp; billable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9080" cy="685800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3" name="Shape 1"/>
          <p:cNvSpPr/>
          <p:nvPr/>
        </p:nvSpPr>
        <p:spPr>
          <a:xfrm>
            <a:off x="4014216" y="0"/>
            <a:ext cx="54864" cy="6858000"/>
          </a:xfrm>
          <a:prstGeom prst="rect">
            <a:avLst/>
          </a:prstGeom>
          <a:solidFill>
            <a:srgbClr val="C9A55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4114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5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PERSONA 01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044952" y="384048"/>
            <a:ext cx="749808" cy="749808"/>
          </a:xfrm>
          <a:prstGeom prst="ellipse">
            <a:avLst/>
          </a:prstGeom>
          <a:solidFill>
            <a:srgbClr val="26384C"/>
          </a:solidFill>
          <a:ln w="12700">
            <a:solidFill>
              <a:srgbClr val="C9A55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27832" y="566928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804672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6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Owner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502920" y="135331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DC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FBO OPERATOR · JAY'S AIR CENTER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02920" y="17373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5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JOB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02920" y="1993392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B9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and runs Jay's Air Center at KSNA. Accountable for the FBO's service reputation, line-crew staffing, and the fuel &amp; service revenue behind every based and transient aircraft.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02920" y="3474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A5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THEY USE TODAY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02920" y="3749040"/>
            <a:ext cx="3383280" cy="7818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F8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 request history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F8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/ service capture per job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F8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 activity trail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02920" y="46405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A5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NEEDS TO BE ADDED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02920" y="4914900"/>
            <a:ext cx="3383280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9A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B9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Oversight dashboard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9A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B9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Reassign &amp; load-balancing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9A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B9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&amp; revenue reporting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9A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B9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role management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434840" y="457200"/>
            <a:ext cx="7253935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434840" y="457200"/>
            <a:ext cx="82296" cy="1828800"/>
          </a:xfrm>
          <a:prstGeom prst="rect">
            <a:avLst/>
          </a:prstGeom>
          <a:solidFill>
            <a:srgbClr val="B4513E"/>
          </a:solidFill>
          <a:ln/>
        </p:spPr>
      </p:sp>
      <p:sp>
        <p:nvSpPr>
          <p:cNvPr id="17" name="Text 14"/>
          <p:cNvSpPr/>
          <p:nvPr/>
        </p:nvSpPr>
        <p:spPr>
          <a:xfrm>
            <a:off x="4754880" y="621792"/>
            <a:ext cx="67052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451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DAY-TO-DAY STRUGGLE  (AS-IS)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846320" y="987552"/>
            <a:ext cx="6522415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view of what the crew is doing — relies on radio chatter and walking the ramp.</a:t>
            </a:r>
            <a:endParaRPr lang="en-US" sz="1300" dirty="0"/>
          </a:p>
          <a:p>
            <a:pPr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Verbal, untracked requests mean no record and disputes over “I asked for a top-off.”</a:t>
            </a:r>
            <a:endParaRPr lang="en-US" sz="1300" dirty="0"/>
          </a:p>
          <a:p>
            <a:pPr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see crew workload, so requests pile up at peak departure times with no balancing.</a:t>
            </a:r>
            <a:endParaRPr lang="en-US" sz="1300" dirty="0"/>
          </a:p>
          <a:p>
            <a:pPr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&amp; service charges are reconciled by hand after the fact — billing leakage, slow invoicing.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434840" y="2423160"/>
            <a:ext cx="7253935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434840" y="2423160"/>
            <a:ext cx="82296" cy="178308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21" name="Text 18"/>
          <p:cNvSpPr/>
          <p:nvPr/>
        </p:nvSpPr>
        <p:spPr>
          <a:xfrm>
            <a:off x="4754880" y="2587752"/>
            <a:ext cx="67052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B2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CASES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846320" y="2953512"/>
            <a:ext cx="6522415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a live board of every open stage / return request across all aircraft and crew.</a:t>
            </a:r>
            <a:endParaRPr lang="en-US" sz="1300" dirty="0"/>
          </a:p>
          <a:p>
            <a:pPr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Reassign or prioritize jobs when a VIP departs or a lineman is overloaded.</a:t>
            </a:r>
            <a:endParaRPr lang="en-US" sz="1300" dirty="0"/>
          </a:p>
          <a:p>
            <a:pPr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service history and response times per aircraft for billing and disputes.</a:t>
            </a:r>
            <a:endParaRPr lang="en-US" sz="1300" dirty="0"/>
          </a:p>
          <a:p>
            <a:pPr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fuel / service revenue and tip payouts; export to FBO accounting.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434840" y="4343400"/>
            <a:ext cx="7253935" cy="2057400"/>
          </a:xfrm>
          <a:prstGeom prst="rect">
            <a:avLst/>
          </a:prstGeom>
          <a:solidFill>
            <a:srgbClr val="F3F6F1"/>
          </a:solidFill>
          <a:ln w="12700">
            <a:solidFill>
              <a:srgbClr val="D7E3D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434840" y="4343400"/>
            <a:ext cx="82296" cy="2057400"/>
          </a:xfrm>
          <a:prstGeom prst="rect">
            <a:avLst/>
          </a:prstGeom>
          <a:solidFill>
            <a:srgbClr val="3E8E5A"/>
          </a:solidFill>
          <a:ln/>
        </p:spPr>
      </p:sp>
      <p:sp>
        <p:nvSpPr>
          <p:cNvPr id="25" name="Text 22"/>
          <p:cNvSpPr/>
          <p:nvPr/>
        </p:nvSpPr>
        <p:spPr>
          <a:xfrm>
            <a:off x="4754880" y="4507992"/>
            <a:ext cx="67052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3E8E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JAY'S VALET HELPS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846320" y="4873752"/>
            <a:ext cx="6522415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every verbal call into a logged, timestamped request — a full audit trail.</a:t>
            </a:r>
            <a:endParaRPr lang="en-US" sz="1300" dirty="0"/>
          </a:p>
          <a:p>
            <a:pPr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admin dashboard surfaces the whole queue, crew load and SLA timers on one screen.</a:t>
            </a:r>
            <a:endParaRPr lang="en-US" sz="1300" dirty="0"/>
          </a:p>
          <a:p>
            <a:pPr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&amp; services attach to each job and flow toward billing instead of a paper ticket.</a:t>
            </a:r>
            <a:endParaRPr lang="en-US" sz="1300" dirty="0"/>
          </a:p>
          <a:p>
            <a:pPr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Positions Jay's as the only KSNA FBO with a “summon your plane” concierge experience.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9080" cy="685800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3" name="Shape 1"/>
          <p:cNvSpPr/>
          <p:nvPr/>
        </p:nvSpPr>
        <p:spPr>
          <a:xfrm>
            <a:off x="4014216" y="0"/>
            <a:ext cx="54864" cy="6858000"/>
          </a:xfrm>
          <a:prstGeom prst="rect">
            <a:avLst/>
          </a:prstGeom>
          <a:solidFill>
            <a:srgbClr val="C9A55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4114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5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PERSONA 02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044952" y="384048"/>
            <a:ext cx="749808" cy="749808"/>
          </a:xfrm>
          <a:prstGeom prst="ellipse">
            <a:avLst/>
          </a:prstGeom>
          <a:solidFill>
            <a:srgbClr val="26384C"/>
          </a:solidFill>
          <a:ln w="12700">
            <a:solidFill>
              <a:srgbClr val="C9A55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27832" y="566928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804672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6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Line Technician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502920" y="135331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DC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GROUND CREW · e.g. MARCUS R.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02920" y="17373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5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JOB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02920" y="1993392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B9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Jay's ground crew. Tows aircraft between hangar and ramp, fuels Jet A / 100LL, and runs lav, water, GPU and other ramp services — the person who physically delivers “staged &amp; ready.”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02920" y="3474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A5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THEY USE TODAY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02920" y="3749040"/>
            <a:ext cx="3383280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F8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line queue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F8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request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F8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Advance-status workflow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F8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owner push alerts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02920" y="490118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A5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NEEDS TO BE ADDED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02920" y="5175504"/>
            <a:ext cx="3383280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9A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B9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Reassign / decline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9A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B9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&amp; scheduling view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9A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B9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tip payout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9A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B9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/ low-signal mode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434840" y="457200"/>
            <a:ext cx="7253935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434840" y="457200"/>
            <a:ext cx="82296" cy="1828800"/>
          </a:xfrm>
          <a:prstGeom prst="rect">
            <a:avLst/>
          </a:prstGeom>
          <a:solidFill>
            <a:srgbClr val="B4513E"/>
          </a:solidFill>
          <a:ln/>
        </p:spPr>
      </p:sp>
      <p:sp>
        <p:nvSpPr>
          <p:cNvPr id="17" name="Text 14"/>
          <p:cNvSpPr/>
          <p:nvPr/>
        </p:nvSpPr>
        <p:spPr>
          <a:xfrm>
            <a:off x="4754880" y="621792"/>
            <a:ext cx="67052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451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DAY-TO-DAY STRUGGLE  (AS-IS)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846320" y="987552"/>
            <a:ext cx="6522415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arrive by radio or a desk note — easy to mishear a tail number or miss a service.</a:t>
            </a:r>
            <a:endParaRPr lang="en-US" sz="1300" dirty="0"/>
          </a:p>
          <a:p>
            <a:pPr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prioritized queue; juggles “who asked first” vs “who leaves soonest” in their head.</a:t>
            </a:r>
            <a:endParaRPr lang="en-US" sz="1300" dirty="0"/>
          </a:p>
          <a:p>
            <a:pPr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 call the desk asking “is it ready yet?”, interrupting the actual work.</a:t>
            </a:r>
            <a:endParaRPr lang="en-US" sz="1300" dirty="0"/>
          </a:p>
          <a:p>
            <a:pPr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Re-walks to confirm fuel type, quantity or ramp spot because details got lost in handoff.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434840" y="2423160"/>
            <a:ext cx="7253935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434840" y="2423160"/>
            <a:ext cx="82296" cy="178308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21" name="Text 18"/>
          <p:cNvSpPr/>
          <p:nvPr/>
        </p:nvSpPr>
        <p:spPr>
          <a:xfrm>
            <a:off x="4754880" y="2587752"/>
            <a:ext cx="67052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B2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CASES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846320" y="2953512"/>
            <a:ext cx="6522415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one prioritized queue of incoming stage / return requests, with full detail.</a:t>
            </a:r>
            <a:endParaRPr lang="en-US" sz="1300" dirty="0"/>
          </a:p>
          <a:p>
            <a:pPr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a job and advance it: tow → fuel → services → staged &amp; ready.</a:t>
            </a:r>
            <a:endParaRPr lang="en-US" sz="1300" dirty="0"/>
          </a:p>
          <a:p>
            <a:pPr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exact specs per job — from-row, fuel type, services, destination ramp spot.</a:t>
            </a:r>
            <a:endParaRPr lang="en-US" sz="1300" dirty="0"/>
          </a:p>
          <a:p>
            <a:pPr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status tap auto-notifies the owner; ratings and tips tie to jobs they completed.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434840" y="4343400"/>
            <a:ext cx="7253935" cy="2057400"/>
          </a:xfrm>
          <a:prstGeom prst="rect">
            <a:avLst/>
          </a:prstGeom>
          <a:solidFill>
            <a:srgbClr val="F3F6F1"/>
          </a:solidFill>
          <a:ln w="12700">
            <a:solidFill>
              <a:srgbClr val="D7E3D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434840" y="4343400"/>
            <a:ext cx="82296" cy="2057400"/>
          </a:xfrm>
          <a:prstGeom prst="rect">
            <a:avLst/>
          </a:prstGeom>
          <a:solidFill>
            <a:srgbClr val="3E8E5A"/>
          </a:solidFill>
          <a:ln/>
        </p:spPr>
      </p:sp>
      <p:sp>
        <p:nvSpPr>
          <p:cNvPr id="25" name="Text 22"/>
          <p:cNvSpPr/>
          <p:nvPr/>
        </p:nvSpPr>
        <p:spPr>
          <a:xfrm>
            <a:off x="4754880" y="4507992"/>
            <a:ext cx="67052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3E8E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JAY'S VALET HELPS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846320" y="4873752"/>
            <a:ext cx="6522415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clear queue replaces radio chatter and paper notes — fewer errors.</a:t>
            </a:r>
            <a:endParaRPr lang="en-US" sz="1300" dirty="0"/>
          </a:p>
          <a:p>
            <a:pPr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Tap-to-advance status keeps owners informed automatically, so no “is it ready?” calls.</a:t>
            </a:r>
            <a:endParaRPr lang="en-US" sz="1300" dirty="0"/>
          </a:p>
          <a:p>
            <a:pPr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job carries its full spec, so there's no re-walking to confirm.</a:t>
            </a:r>
            <a:endParaRPr lang="en-US" sz="1300" dirty="0"/>
          </a:p>
          <a:p>
            <a:pPr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A sends tips directly to the lineman who did the work.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69080" cy="685800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3" name="Shape 1"/>
          <p:cNvSpPr/>
          <p:nvPr/>
        </p:nvSpPr>
        <p:spPr>
          <a:xfrm>
            <a:off x="4014216" y="0"/>
            <a:ext cx="54864" cy="6858000"/>
          </a:xfrm>
          <a:prstGeom prst="rect">
            <a:avLst/>
          </a:prstGeom>
          <a:solidFill>
            <a:srgbClr val="C9A55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4114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5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PERSONA 03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044952" y="384048"/>
            <a:ext cx="749808" cy="749808"/>
          </a:xfrm>
          <a:prstGeom prst="ellipse">
            <a:avLst/>
          </a:prstGeom>
          <a:solidFill>
            <a:srgbClr val="26384C"/>
          </a:solidFill>
          <a:ln w="12700">
            <a:solidFill>
              <a:srgbClr val="C9A55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27832" y="566928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804672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8F6F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Tenant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502920" y="135331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DC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BASED AIRCRAFT OWNER · e.g. GEORGE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02920" y="17373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5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JOB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02920" y="1993392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B9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based aircraft owner who hangars at Jay's (N559JC · Cirrus SR22T · Row B·14). Flies for business and personal travel, values time, and expects a premium, predictable experience. The primary app user.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02920" y="3474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A5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THEY USE TODAY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02920" y="3749040"/>
            <a:ext cx="3383280" cy="13030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F8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/ return summon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F8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&amp; service request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F8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tracker + push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F8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history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F8F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(A) / rating (B)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02920" y="516178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A5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NEEDS TO BE ADDED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02920" y="5436108"/>
            <a:ext cx="3383280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9A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B9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auth + multi-aircraft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9A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B9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payment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9A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B9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ramp map / Wallet pass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9A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</a:t>
            </a:r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B9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fallback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434840" y="457200"/>
            <a:ext cx="7253935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434840" y="457200"/>
            <a:ext cx="82296" cy="1828800"/>
          </a:xfrm>
          <a:prstGeom prst="rect">
            <a:avLst/>
          </a:prstGeom>
          <a:solidFill>
            <a:srgbClr val="B4513E"/>
          </a:solidFill>
          <a:ln/>
        </p:spPr>
      </p:sp>
      <p:sp>
        <p:nvSpPr>
          <p:cNvPr id="17" name="Text 14"/>
          <p:cNvSpPr/>
          <p:nvPr/>
        </p:nvSpPr>
        <p:spPr>
          <a:xfrm>
            <a:off x="4754880" y="621792"/>
            <a:ext cx="67052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451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DAY-TO-DAY STRUGGLE  (AS-IS)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846320" y="987552"/>
            <a:ext cx="6522415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phone the FBO to request a pull-out, fuel and services — only during staffed hours.</a:t>
            </a:r>
            <a:endParaRPr lang="en-US" sz="1300" dirty="0"/>
          </a:p>
          <a:p>
            <a:pPr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visibility: doesn't know the plane is fueled and on the ramp until physically there.</a:t>
            </a:r>
            <a:endParaRPr lang="en-US" sz="1300" dirty="0"/>
          </a:p>
          <a:p>
            <a:pPr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Arrives to a half-fueled aircraft or wrong ramp spot when a verbal request got garbled.</a:t>
            </a:r>
            <a:endParaRPr lang="en-US" sz="1300" dirty="0"/>
          </a:p>
          <a:p>
            <a:pPr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record of what was requested or what it cost until the invoice shows up.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434840" y="2423160"/>
            <a:ext cx="7253935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1D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434840" y="2423160"/>
            <a:ext cx="82296" cy="178308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21" name="Text 18"/>
          <p:cNvSpPr/>
          <p:nvPr/>
        </p:nvSpPr>
        <p:spPr>
          <a:xfrm>
            <a:off x="4754880" y="2587752"/>
            <a:ext cx="67052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B28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CASES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846320" y="2953512"/>
            <a:ext cx="6522415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Summon (“Stage”) the aircraft with one tap — now or scheduled to a departure time.</a:t>
            </a:r>
            <a:endParaRPr lang="en-US" sz="1300" dirty="0"/>
          </a:p>
          <a:p>
            <a:pPr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fuel and services (lav, water, GPU, rental car, catering) in the same request.</a:t>
            </a:r>
            <a:endParaRPr lang="en-US" sz="1300" dirty="0"/>
          </a:p>
          <a:p>
            <a:pPr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live status with ETA and ramp spot; get a push the moment it's staged &amp; ready.</a:t>
            </a:r>
            <a:endParaRPr lang="en-US" sz="1300" dirty="0"/>
          </a:p>
          <a:p>
            <a:pPr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the aircraft to the hangar in reverse; review history; tip (A) or rate (B).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434840" y="4343400"/>
            <a:ext cx="7253935" cy="2057400"/>
          </a:xfrm>
          <a:prstGeom prst="rect">
            <a:avLst/>
          </a:prstGeom>
          <a:solidFill>
            <a:srgbClr val="F3F6F1"/>
          </a:solidFill>
          <a:ln w="12700">
            <a:solidFill>
              <a:srgbClr val="D7E3D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434840" y="4343400"/>
            <a:ext cx="82296" cy="2057400"/>
          </a:xfrm>
          <a:prstGeom prst="rect">
            <a:avLst/>
          </a:prstGeom>
          <a:solidFill>
            <a:srgbClr val="3E8E5A"/>
          </a:solidFill>
          <a:ln/>
        </p:spPr>
      </p:sp>
      <p:sp>
        <p:nvSpPr>
          <p:cNvPr id="25" name="Text 22"/>
          <p:cNvSpPr/>
          <p:nvPr/>
        </p:nvSpPr>
        <p:spPr>
          <a:xfrm>
            <a:off x="4754880" y="4507992"/>
            <a:ext cx="67052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3E8E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JAY'S VALET HELPS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846320" y="4873752"/>
            <a:ext cx="6522415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the phone call — request anytime, from anywhere.</a:t>
            </a:r>
            <a:endParaRPr lang="en-US" sz="1300" dirty="0"/>
          </a:p>
          <a:p>
            <a:pPr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tracker + push notifications confirm the plane is ready before leaving home.</a:t>
            </a:r>
            <a:endParaRPr lang="en-US" sz="1300" dirty="0"/>
          </a:p>
          <a:p>
            <a:pPr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spec is captured, so it's fueled, serviced and parked exactly as asked.</a:t>
            </a:r>
            <a:endParaRPr lang="en-US" sz="1300" dirty="0"/>
          </a:p>
          <a:p>
            <a:pPr marL="177800" indent="-1778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Tesla-style “summon your plane” experience that makes Jay's feel concierge.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2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map by persona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58368" y="111556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capabilities each persona touches — and what's live in the prototype vs. on the roadmap.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58368" y="15361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32688" y="15361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prototype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802636" y="15361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076956" y="15361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roadmap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13732" y="15361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88052" y="15361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their role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057400"/>
            <a:ext cx="10927080" cy="45720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05740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A5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0" y="2057400"/>
            <a:ext cx="2026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6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OWNER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513320" y="2057400"/>
            <a:ext cx="2026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6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 TECH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540240" y="2057400"/>
            <a:ext cx="2026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6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TENANT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2514600"/>
            <a:ext cx="10927080" cy="3699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2514600"/>
            <a:ext cx="4572000" cy="3699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3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Summon stage / return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486400" y="2514600"/>
            <a:ext cx="2026920" cy="3699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513320" y="2514600"/>
            <a:ext cx="2026920" cy="3699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540240" y="2514600"/>
            <a:ext cx="2026920" cy="3699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0080" y="2884516"/>
            <a:ext cx="10927080" cy="369916"/>
          </a:xfrm>
          <a:prstGeom prst="rect">
            <a:avLst/>
          </a:prstGeom>
          <a:solidFill>
            <a:srgbClr val="F0EDE6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2884516"/>
            <a:ext cx="4572000" cy="3699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3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&amp; services request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486400" y="2884516"/>
            <a:ext cx="2026920" cy="3699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513320" y="2884516"/>
            <a:ext cx="2026920" cy="3699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540240" y="2884516"/>
            <a:ext cx="2026920" cy="3699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0080" y="3254433"/>
            <a:ext cx="10927080" cy="3699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" y="3254433"/>
            <a:ext cx="4572000" cy="3699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3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tracker &amp; push alerts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486400" y="3254433"/>
            <a:ext cx="2026920" cy="3699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513320" y="3254433"/>
            <a:ext cx="2026920" cy="3699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540240" y="3254433"/>
            <a:ext cx="2026920" cy="3699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40080" y="3624349"/>
            <a:ext cx="10927080" cy="369916"/>
          </a:xfrm>
          <a:prstGeom prst="rect">
            <a:avLst/>
          </a:prstGeom>
          <a:solidFill>
            <a:srgbClr val="F0EDE6"/>
          </a:solidFill>
          <a:ln/>
        </p:spPr>
      </p:sp>
      <p:sp>
        <p:nvSpPr>
          <p:cNvPr id="31" name="Text 29"/>
          <p:cNvSpPr/>
          <p:nvPr/>
        </p:nvSpPr>
        <p:spPr>
          <a:xfrm>
            <a:off x="868680" y="3624349"/>
            <a:ext cx="4572000" cy="3699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3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queue &amp; status updates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5486400" y="3624349"/>
            <a:ext cx="2026920" cy="3699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513320" y="3624349"/>
            <a:ext cx="2026920" cy="3699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540240" y="3624349"/>
            <a:ext cx="2026920" cy="3699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40080" y="3994265"/>
            <a:ext cx="10927080" cy="3699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868680" y="3994265"/>
            <a:ext cx="4572000" cy="3699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3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 history / audit trail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5486400" y="3994265"/>
            <a:ext cx="2026920" cy="3699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513320" y="3994265"/>
            <a:ext cx="2026920" cy="3699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540240" y="3994265"/>
            <a:ext cx="2026920" cy="3699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40080" y="4364182"/>
            <a:ext cx="10927080" cy="369916"/>
          </a:xfrm>
          <a:prstGeom prst="rect">
            <a:avLst/>
          </a:prstGeom>
          <a:solidFill>
            <a:srgbClr val="F0EDE6"/>
          </a:solidFill>
          <a:ln/>
        </p:spPr>
      </p:sp>
      <p:sp>
        <p:nvSpPr>
          <p:cNvPr id="41" name="Text 39"/>
          <p:cNvSpPr/>
          <p:nvPr/>
        </p:nvSpPr>
        <p:spPr>
          <a:xfrm>
            <a:off x="868680" y="4364182"/>
            <a:ext cx="4572000" cy="3699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3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Tipping (A) / ratings (B)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5486400" y="4364182"/>
            <a:ext cx="2026920" cy="3699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513320" y="4364182"/>
            <a:ext cx="2026920" cy="3699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9540240" y="4364182"/>
            <a:ext cx="2026920" cy="3699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40080" y="4734098"/>
            <a:ext cx="10927080" cy="3699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868680" y="4734098"/>
            <a:ext cx="4572000" cy="3699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3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Oversight dashboard (all jobs)</a:t>
            </a:r>
            <a:endParaRPr lang="en-US" sz="1350" dirty="0"/>
          </a:p>
        </p:txBody>
      </p:sp>
      <p:sp>
        <p:nvSpPr>
          <p:cNvPr id="47" name="Text 45"/>
          <p:cNvSpPr/>
          <p:nvPr/>
        </p:nvSpPr>
        <p:spPr>
          <a:xfrm>
            <a:off x="5486400" y="4734098"/>
            <a:ext cx="2026920" cy="3699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7513320" y="4734098"/>
            <a:ext cx="2026920" cy="3699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9540240" y="4734098"/>
            <a:ext cx="2026920" cy="3699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40080" y="5104015"/>
            <a:ext cx="10927080" cy="369916"/>
          </a:xfrm>
          <a:prstGeom prst="rect">
            <a:avLst/>
          </a:prstGeom>
          <a:solidFill>
            <a:srgbClr val="F0EDE6"/>
          </a:solidFill>
          <a:ln/>
        </p:spPr>
      </p:sp>
      <p:sp>
        <p:nvSpPr>
          <p:cNvPr id="51" name="Text 49"/>
          <p:cNvSpPr/>
          <p:nvPr/>
        </p:nvSpPr>
        <p:spPr>
          <a:xfrm>
            <a:off x="868680" y="5104015"/>
            <a:ext cx="4572000" cy="3699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3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Reassign / load-balancing</a:t>
            </a:r>
            <a:endParaRPr lang="en-US" sz="1350" dirty="0"/>
          </a:p>
        </p:txBody>
      </p:sp>
      <p:sp>
        <p:nvSpPr>
          <p:cNvPr id="52" name="Text 50"/>
          <p:cNvSpPr/>
          <p:nvPr/>
        </p:nvSpPr>
        <p:spPr>
          <a:xfrm>
            <a:off x="5486400" y="5104015"/>
            <a:ext cx="2026920" cy="3699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7513320" y="5104015"/>
            <a:ext cx="2026920" cy="3699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9540240" y="5104015"/>
            <a:ext cx="2026920" cy="3699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40080" y="5473931"/>
            <a:ext cx="10927080" cy="3699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6" name="Text 54"/>
          <p:cNvSpPr/>
          <p:nvPr/>
        </p:nvSpPr>
        <p:spPr>
          <a:xfrm>
            <a:off x="868680" y="5473931"/>
            <a:ext cx="4572000" cy="3699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3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&amp; revenue reporting</a:t>
            </a:r>
            <a:endParaRPr lang="en-US" sz="1350" dirty="0"/>
          </a:p>
        </p:txBody>
      </p:sp>
      <p:sp>
        <p:nvSpPr>
          <p:cNvPr id="57" name="Text 55"/>
          <p:cNvSpPr/>
          <p:nvPr/>
        </p:nvSpPr>
        <p:spPr>
          <a:xfrm>
            <a:off x="5486400" y="5473931"/>
            <a:ext cx="2026920" cy="3699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7513320" y="5473931"/>
            <a:ext cx="2026920" cy="3699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9540240" y="5473931"/>
            <a:ext cx="2026920" cy="3699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40080" y="5843847"/>
            <a:ext cx="10927080" cy="369916"/>
          </a:xfrm>
          <a:prstGeom prst="rect">
            <a:avLst/>
          </a:prstGeom>
          <a:solidFill>
            <a:srgbClr val="F0EDE6"/>
          </a:solidFill>
          <a:ln/>
        </p:spPr>
      </p:sp>
      <p:sp>
        <p:nvSpPr>
          <p:cNvPr id="61" name="Text 59"/>
          <p:cNvSpPr/>
          <p:nvPr/>
        </p:nvSpPr>
        <p:spPr>
          <a:xfrm>
            <a:off x="868680" y="5843847"/>
            <a:ext cx="4572000" cy="3699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3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 scheduling</a:t>
            </a:r>
            <a:endParaRPr lang="en-US" sz="1350" dirty="0"/>
          </a:p>
        </p:txBody>
      </p:sp>
      <p:sp>
        <p:nvSpPr>
          <p:cNvPr id="62" name="Text 60"/>
          <p:cNvSpPr/>
          <p:nvPr/>
        </p:nvSpPr>
        <p:spPr>
          <a:xfrm>
            <a:off x="5486400" y="5843847"/>
            <a:ext cx="2026920" cy="3699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7513320" y="5843847"/>
            <a:ext cx="2026920" cy="3699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9540240" y="5843847"/>
            <a:ext cx="2026920" cy="3699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640080" y="6213764"/>
            <a:ext cx="10927080" cy="3699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6" name="Text 64"/>
          <p:cNvSpPr/>
          <p:nvPr/>
        </p:nvSpPr>
        <p:spPr>
          <a:xfrm>
            <a:off x="868680" y="6213764"/>
            <a:ext cx="4572000" cy="3699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3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multi-aircraft</a:t>
            </a:r>
            <a:endParaRPr lang="en-US" sz="1350" dirty="0"/>
          </a:p>
        </p:txBody>
      </p:sp>
      <p:sp>
        <p:nvSpPr>
          <p:cNvPr id="67" name="Text 65"/>
          <p:cNvSpPr/>
          <p:nvPr/>
        </p:nvSpPr>
        <p:spPr>
          <a:xfrm>
            <a:off x="5486400" y="6213764"/>
            <a:ext cx="2026920" cy="3699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7513320" y="6213764"/>
            <a:ext cx="2026920" cy="3699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9540240" y="6213764"/>
            <a:ext cx="2026920" cy="3699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5486400" y="2057400"/>
            <a:ext cx="0" cy="452628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513320" y="2057400"/>
            <a:ext cx="0" cy="452628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9540240" y="2057400"/>
            <a:ext cx="0" cy="452628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Jay's Valet — User Personas</dc:title>
  <dc:subject>PptxGenJS Presentation</dc:subject>
  <dc:creator>H9 Partners</dc:creator>
  <cp:lastModifiedBy>H9 Partners</cp:lastModifiedBy>
  <cp:revision>1</cp:revision>
  <dcterms:created xsi:type="dcterms:W3CDTF">2026-06-01T15:13:03Z</dcterms:created>
  <dcterms:modified xsi:type="dcterms:W3CDTF">2026-06-01T15:13:03Z</dcterms:modified>
</cp:coreProperties>
</file>